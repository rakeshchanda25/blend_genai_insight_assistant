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ton" charset="1" panose="00000500000000000000"/>
      <p:regular r:id="rId21"/>
    </p:embeddedFont>
    <p:embeddedFont>
      <p:font typeface="Montserrat Bold" charset="1" panose="00000800000000000000"/>
      <p:regular r:id="rId22"/>
    </p:embeddedFont>
    <p:embeddedFont>
      <p:font typeface="Public Sans" charset="1" panose="00000000000000000000"/>
      <p:regular r:id="rId23"/>
    </p:embeddedFont>
    <p:embeddedFont>
      <p:font typeface="Glacial Indifference" charset="1" panose="00000000000000000000"/>
      <p:regular r:id="rId24"/>
    </p:embeddedFont>
    <p:embeddedFont>
      <p:font typeface="TT Interphases" charset="1" panose="0200050302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724" y="3327031"/>
            <a:ext cx="1598957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93"/>
              </a:lnSpc>
            </a:pPr>
            <a:r>
              <a:rPr lang="en-US" sz="12161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RETAIL INSIGHT ASSISTANT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6390" y="2399285"/>
            <a:ext cx="3438827" cy="737246"/>
            <a:chOff x="0" y="0"/>
            <a:chExt cx="189562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5622" cy="406400"/>
            </a:xfrm>
            <a:custGeom>
              <a:avLst/>
              <a:gdLst/>
              <a:ahLst/>
              <a:cxnLst/>
              <a:rect r="r" b="b" t="t" l="l"/>
              <a:pathLst>
                <a:path h="406400" w="1895622">
                  <a:moveTo>
                    <a:pt x="1692422" y="0"/>
                  </a:moveTo>
                  <a:cubicBezTo>
                    <a:pt x="1804646" y="0"/>
                    <a:pt x="1895622" y="90976"/>
                    <a:pt x="1895622" y="203200"/>
                  </a:cubicBezTo>
                  <a:cubicBezTo>
                    <a:pt x="1895622" y="315424"/>
                    <a:pt x="1804646" y="406400"/>
                    <a:pt x="16924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95622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75422" y="2537486"/>
            <a:ext cx="3100763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GEN-AI Powered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6390" y="5117731"/>
            <a:ext cx="13935960" cy="96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Enterprise Architecture for Large-Scale AI-Powered Analytics</a:t>
            </a:r>
          </a:p>
          <a:p>
            <a:pPr algn="l">
              <a:lnSpc>
                <a:spcPts val="391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148297" y="8501400"/>
            <a:ext cx="6343646" cy="125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7" spc="15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3357"/>
              </a:lnSpc>
            </a:pPr>
            <a:r>
              <a:rPr lang="en-US" sz="2397" spc="15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3357"/>
              </a:lnSpc>
            </a:pPr>
            <a:r>
              <a:rPr lang="en-US" sz="2397" spc="15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400000">
            <a:off x="15533656" y="-756397"/>
            <a:ext cx="969594" cy="3396666"/>
          </a:xfrm>
          <a:custGeom>
            <a:avLst/>
            <a:gdLst/>
            <a:ahLst/>
            <a:cxnLst/>
            <a:rect r="r" b="b" t="t" l="l"/>
            <a:pathLst>
              <a:path h="3396666" w="969594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6390" y="6446839"/>
            <a:ext cx="2818984" cy="3064113"/>
          </a:xfrm>
          <a:custGeom>
            <a:avLst/>
            <a:gdLst/>
            <a:ahLst/>
            <a:cxnLst/>
            <a:rect r="r" b="b" t="t" l="l"/>
            <a:pathLst>
              <a:path h="3064113" w="2818984">
                <a:moveTo>
                  <a:pt x="0" y="0"/>
                </a:moveTo>
                <a:lnTo>
                  <a:pt x="2818984" y="0"/>
                </a:lnTo>
                <a:lnTo>
                  <a:pt x="2818984" y="3064114"/>
                </a:lnTo>
                <a:lnTo>
                  <a:pt x="0" y="3064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070" y="304800"/>
            <a:ext cx="1423796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CURRENT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63170" y="1743075"/>
            <a:ext cx="11756410" cy="8357923"/>
          </a:xfrm>
          <a:custGeom>
            <a:avLst/>
            <a:gdLst/>
            <a:ahLst/>
            <a:cxnLst/>
            <a:rect r="r" b="b" t="t" l="l"/>
            <a:pathLst>
              <a:path h="8357923" w="11756410">
                <a:moveTo>
                  <a:pt x="0" y="0"/>
                </a:moveTo>
                <a:lnTo>
                  <a:pt x="11756411" y="0"/>
                </a:lnTo>
                <a:lnTo>
                  <a:pt x="11756411" y="8357923"/>
                </a:lnTo>
                <a:lnTo>
                  <a:pt x="0" y="8357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5" r="0" b="-330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2766" y="9220200"/>
            <a:ext cx="4411794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24459" y="2326866"/>
            <a:ext cx="11824376" cy="7384741"/>
          </a:xfrm>
          <a:custGeom>
            <a:avLst/>
            <a:gdLst/>
            <a:ahLst/>
            <a:cxnLst/>
            <a:rect r="r" b="b" t="t" l="l"/>
            <a:pathLst>
              <a:path h="7384741" w="11824376">
                <a:moveTo>
                  <a:pt x="0" y="0"/>
                </a:moveTo>
                <a:lnTo>
                  <a:pt x="11824376" y="0"/>
                </a:lnTo>
                <a:lnTo>
                  <a:pt x="11824376" y="7384741"/>
                </a:lnTo>
                <a:lnTo>
                  <a:pt x="0" y="7384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8899" y="304800"/>
            <a:ext cx="1293396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TOOLS CALLING AND STORAGE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19581" y="9220200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2159" y="2058954"/>
            <a:ext cx="9257240" cy="4420332"/>
          </a:xfrm>
          <a:custGeom>
            <a:avLst/>
            <a:gdLst/>
            <a:ahLst/>
            <a:cxnLst/>
            <a:rect r="r" b="b" t="t" l="l"/>
            <a:pathLst>
              <a:path h="4420332" w="9257240">
                <a:moveTo>
                  <a:pt x="0" y="0"/>
                </a:moveTo>
                <a:lnTo>
                  <a:pt x="9257240" y="0"/>
                </a:lnTo>
                <a:lnTo>
                  <a:pt x="9257240" y="4420332"/>
                </a:lnTo>
                <a:lnTo>
                  <a:pt x="0" y="442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8899" y="304800"/>
            <a:ext cx="1293396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RETAIL INSIGHTS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258011" y="5580092"/>
            <a:ext cx="9001289" cy="4417130"/>
          </a:xfrm>
          <a:custGeom>
            <a:avLst/>
            <a:gdLst/>
            <a:ahLst/>
            <a:cxnLst/>
            <a:rect r="r" b="b" t="t" l="l"/>
            <a:pathLst>
              <a:path h="4417130" w="9001289">
                <a:moveTo>
                  <a:pt x="0" y="0"/>
                </a:moveTo>
                <a:lnTo>
                  <a:pt x="9001289" y="0"/>
                </a:lnTo>
                <a:lnTo>
                  <a:pt x="9001289" y="4417130"/>
                </a:lnTo>
                <a:lnTo>
                  <a:pt x="0" y="4417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7" r="0" b="-81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8899" y="304800"/>
            <a:ext cx="1293396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RETAIL INSIGHTS ASSISTANT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91684" y="2151055"/>
            <a:ext cx="8552316" cy="3885870"/>
          </a:xfrm>
          <a:custGeom>
            <a:avLst/>
            <a:gdLst/>
            <a:ahLst/>
            <a:cxnLst/>
            <a:rect r="r" b="b" t="t" l="l"/>
            <a:pathLst>
              <a:path h="3885870" w="8552316">
                <a:moveTo>
                  <a:pt x="0" y="0"/>
                </a:moveTo>
                <a:lnTo>
                  <a:pt x="8552316" y="0"/>
                </a:lnTo>
                <a:lnTo>
                  <a:pt x="8552316" y="3885870"/>
                </a:lnTo>
                <a:lnTo>
                  <a:pt x="0" y="388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9" r="-5249" b="-146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416875"/>
            <a:ext cx="8620814" cy="5565870"/>
          </a:xfrm>
          <a:custGeom>
            <a:avLst/>
            <a:gdLst/>
            <a:ahLst/>
            <a:cxnLst/>
            <a:rect r="r" b="b" t="t" l="l"/>
            <a:pathLst>
              <a:path h="5565870" w="8620814">
                <a:moveTo>
                  <a:pt x="0" y="0"/>
                </a:moveTo>
                <a:lnTo>
                  <a:pt x="8620814" y="0"/>
                </a:lnTo>
                <a:lnTo>
                  <a:pt x="8620814" y="5565870"/>
                </a:lnTo>
                <a:lnTo>
                  <a:pt x="0" y="5565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1092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8899" y="304800"/>
            <a:ext cx="12933962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RETAIL INSIGHTS ASSISTANT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06812" y="2055286"/>
            <a:ext cx="13655272" cy="7621648"/>
          </a:xfrm>
          <a:custGeom>
            <a:avLst/>
            <a:gdLst/>
            <a:ahLst/>
            <a:cxnLst/>
            <a:rect r="r" b="b" t="t" l="l"/>
            <a:pathLst>
              <a:path h="7621648" w="13655272">
                <a:moveTo>
                  <a:pt x="0" y="0"/>
                </a:moveTo>
                <a:lnTo>
                  <a:pt x="13655272" y="0"/>
                </a:lnTo>
                <a:lnTo>
                  <a:pt x="13655272" y="7621647"/>
                </a:lnTo>
                <a:lnTo>
                  <a:pt x="0" y="7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36" r="-762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1736" y="1960036"/>
            <a:ext cx="2141492" cy="74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9"/>
              </a:lnSpc>
            </a:pPr>
            <a:r>
              <a:rPr lang="en-US" sz="430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070" y="304800"/>
            <a:ext cx="1423796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ARCHITECTURE SCALE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5112" y="3586588"/>
            <a:ext cx="9335273" cy="459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current architecture and solution created working for limited number of files (csv, text, json) and for small number of records.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But similar architecuture can be scaled to handle large volume of data like 100+ GBs of data at scale with few changes considering the scalability factor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43900" y="2866890"/>
            <a:ext cx="6629326" cy="6111033"/>
          </a:xfrm>
          <a:custGeom>
            <a:avLst/>
            <a:gdLst/>
            <a:ahLst/>
            <a:cxnLst/>
            <a:rect r="r" b="b" t="t" l="l"/>
            <a:pathLst>
              <a:path h="6111033" w="6629326">
                <a:moveTo>
                  <a:pt x="0" y="0"/>
                </a:moveTo>
                <a:lnTo>
                  <a:pt x="6629326" y="0"/>
                </a:lnTo>
                <a:lnTo>
                  <a:pt x="6629326" y="6111034"/>
                </a:lnTo>
                <a:lnTo>
                  <a:pt x="0" y="61110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519581" y="9220200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5112" y="1817946"/>
            <a:ext cx="14651265" cy="8251348"/>
          </a:xfrm>
          <a:custGeom>
            <a:avLst/>
            <a:gdLst/>
            <a:ahLst/>
            <a:cxnLst/>
            <a:rect r="r" b="b" t="t" l="l"/>
            <a:pathLst>
              <a:path h="8251348" w="14651265">
                <a:moveTo>
                  <a:pt x="0" y="0"/>
                </a:moveTo>
                <a:lnTo>
                  <a:pt x="14651265" y="0"/>
                </a:lnTo>
                <a:lnTo>
                  <a:pt x="14651265" y="8251348"/>
                </a:lnTo>
                <a:lnTo>
                  <a:pt x="0" y="8251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35" r="0" b="-2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4626" y="304800"/>
            <a:ext cx="13006407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DATA INGESTION - SQL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4626" y="304800"/>
            <a:ext cx="13006407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DATA INGESTION - SQL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2889" y="2572366"/>
            <a:ext cx="16072608" cy="6573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Optimizing Data Storage in Azure SQL Server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1) Create domain specific data mart  eg. Sales, Procurement and access level defined on user and data mart level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2) Clustered Columnstore Index (CCI) on large fact tables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3) Non-clustered indexes on RAG filter columns (doc_id, category, date)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4) Partition tables by date or category, pruning irrelevant data at query time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5) Materialized views for frequently accessed RAG contexts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2159" y="2048140"/>
            <a:ext cx="16811507" cy="7112561"/>
          </a:xfrm>
          <a:custGeom>
            <a:avLst/>
            <a:gdLst/>
            <a:ahLst/>
            <a:cxnLst/>
            <a:rect r="r" b="b" t="t" l="l"/>
            <a:pathLst>
              <a:path h="7112561" w="16811507">
                <a:moveTo>
                  <a:pt x="0" y="0"/>
                </a:moveTo>
                <a:lnTo>
                  <a:pt x="16811506" y="0"/>
                </a:lnTo>
                <a:lnTo>
                  <a:pt x="16811506" y="7112561"/>
                </a:lnTo>
                <a:lnTo>
                  <a:pt x="0" y="71125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6376" y="314325"/>
            <a:ext cx="14544657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5"/>
              </a:lnSpc>
            </a:pPr>
            <a:r>
              <a:rPr lang="en-US" sz="84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DATA INGESTION - VECTORDB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38132" y="9220200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4626" y="314325"/>
            <a:ext cx="1168839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5"/>
              </a:lnSpc>
            </a:pPr>
            <a:r>
              <a:rPr lang="en-US" sz="8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DATA INGESTION - VECTORDB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070" y="2141796"/>
            <a:ext cx="16072608" cy="789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Optimizing Pinecone Vector DB </a:t>
            </a:r>
          </a:p>
          <a:p>
            <a:pPr algn="l">
              <a:lnSpc>
                <a:spcPts val="5314"/>
              </a:lnSpc>
            </a:pP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1) Indexing</a:t>
            </a:r>
          </a:p>
          <a:p>
            <a:pPr algn="l" marL="819622" indent="-409811" lvl="1">
              <a:lnSpc>
                <a:spcPts val="5314"/>
              </a:lnSpc>
              <a:buFont typeface="Arial"/>
              <a:buChar char="•"/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 HNSW index , best recall/speed tradeoff for RAG</a:t>
            </a:r>
          </a:p>
          <a:p>
            <a:pPr algn="l" marL="819622" indent="-409811" lvl="1">
              <a:lnSpc>
                <a:spcPts val="5314"/>
              </a:lnSpc>
              <a:buFont typeface="Arial"/>
              <a:buChar char="•"/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Set ef_construction high during build, lower ef at query time for speed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2) Metadata Filtering (Critical)</a:t>
            </a:r>
          </a:p>
          <a:p>
            <a:pPr algn="l" marL="819622" indent="-409811" lvl="1">
              <a:lnSpc>
                <a:spcPts val="5314"/>
              </a:lnSpc>
              <a:buFont typeface="Arial"/>
              <a:buChar char="•"/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Store rich metadata per chunk: source, doc_type, date, domain, chunk_id</a:t>
            </a:r>
          </a:p>
          <a:p>
            <a:pPr algn="l" marL="819622" indent="-409811" lvl="1">
              <a:lnSpc>
                <a:spcPts val="5314"/>
              </a:lnSpc>
              <a:buFont typeface="Arial"/>
              <a:buChar char="•"/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Always pre-filter by metadata before vector search, reducing search space massively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3) Fixed 512 tokens + 50 token overlap, optimal for most embedding models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4) Use Pinecone Serverless — auto-scales, no pod management</a:t>
            </a:r>
          </a:p>
          <a:p>
            <a:pPr algn="l">
              <a:lnSpc>
                <a:spcPts val="5314"/>
              </a:lnSpc>
            </a:pPr>
            <a:r>
              <a:rPr lang="en-US" sz="3796" spc="-18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5) Add upsert deduplication logic in Databricks notebook before push.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2159" y="2872858"/>
            <a:ext cx="17035750" cy="5664387"/>
          </a:xfrm>
          <a:custGeom>
            <a:avLst/>
            <a:gdLst/>
            <a:ahLst/>
            <a:cxnLst/>
            <a:rect r="r" b="b" t="t" l="l"/>
            <a:pathLst>
              <a:path h="5664387" w="17035750">
                <a:moveTo>
                  <a:pt x="0" y="0"/>
                </a:moveTo>
                <a:lnTo>
                  <a:pt x="17035750" y="0"/>
                </a:lnTo>
                <a:lnTo>
                  <a:pt x="17035750" y="5664387"/>
                </a:lnTo>
                <a:lnTo>
                  <a:pt x="0" y="5664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4626" y="314325"/>
            <a:ext cx="1236728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5"/>
              </a:lnSpc>
            </a:pPr>
            <a:r>
              <a:rPr lang="en-US" sz="8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RAG ARCHITECTURE - SQL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2159" y="3328759"/>
            <a:ext cx="17103816" cy="5687019"/>
          </a:xfrm>
          <a:custGeom>
            <a:avLst/>
            <a:gdLst/>
            <a:ahLst/>
            <a:cxnLst/>
            <a:rect r="r" b="b" t="t" l="l"/>
            <a:pathLst>
              <a:path h="5687019" w="17103816">
                <a:moveTo>
                  <a:pt x="0" y="0"/>
                </a:moveTo>
                <a:lnTo>
                  <a:pt x="17103816" y="0"/>
                </a:lnTo>
                <a:lnTo>
                  <a:pt x="17103816" y="5687019"/>
                </a:lnTo>
                <a:lnTo>
                  <a:pt x="0" y="5687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9712" y="314325"/>
            <a:ext cx="1281594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5"/>
              </a:lnSpc>
            </a:pPr>
            <a:r>
              <a:rPr lang="en-US" sz="76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RAG ARCHITECTURE - VECTOR DB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63141" y="1817946"/>
            <a:ext cx="12609788" cy="7913882"/>
          </a:xfrm>
          <a:custGeom>
            <a:avLst/>
            <a:gdLst/>
            <a:ahLst/>
            <a:cxnLst/>
            <a:rect r="r" b="b" t="t" l="l"/>
            <a:pathLst>
              <a:path h="7913882" w="12609788">
                <a:moveTo>
                  <a:pt x="0" y="0"/>
                </a:moveTo>
                <a:lnTo>
                  <a:pt x="12609788" y="0"/>
                </a:lnTo>
                <a:lnTo>
                  <a:pt x="12609788" y="7913882"/>
                </a:lnTo>
                <a:lnTo>
                  <a:pt x="0" y="7913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1" r="0" b="-19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9712" y="314325"/>
            <a:ext cx="12815944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5"/>
              </a:lnSpc>
            </a:pPr>
            <a:r>
              <a:rPr lang="en-US" sz="76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QUERY - RESPONSE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83021" y="147902"/>
            <a:ext cx="4604979" cy="88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Created By - RAKESH CHANDA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Email - chandarakesh2520@gmail.com</a:t>
            </a:r>
          </a:p>
          <a:p>
            <a:pPr algn="l">
              <a:lnSpc>
                <a:spcPts val="2377"/>
              </a:lnSpc>
            </a:pPr>
            <a:r>
              <a:rPr lang="en-US" sz="1697" spc="10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Mobile - +91 9552217046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77219" y="2720366"/>
            <a:ext cx="7015371" cy="6989860"/>
          </a:xfrm>
          <a:custGeom>
            <a:avLst/>
            <a:gdLst/>
            <a:ahLst/>
            <a:cxnLst/>
            <a:rect r="r" b="b" t="t" l="l"/>
            <a:pathLst>
              <a:path h="6989860" w="7015371">
                <a:moveTo>
                  <a:pt x="0" y="0"/>
                </a:moveTo>
                <a:lnTo>
                  <a:pt x="7015370" y="0"/>
                </a:lnTo>
                <a:lnTo>
                  <a:pt x="7015370" y="6989860"/>
                </a:lnTo>
                <a:lnTo>
                  <a:pt x="0" y="698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718033"/>
            <a:ext cx="228600" cy="228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86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000357"/>
            <a:ext cx="8332616" cy="174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6219" y="7708508"/>
            <a:ext cx="2411694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Rakesh Chanda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6219" y="8991981"/>
            <a:ext cx="3011896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+91 9552217046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6219" y="8350245"/>
            <a:ext cx="3239413" cy="26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700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chandarakesh2520@gmail.com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8373867"/>
            <a:ext cx="228600" cy="2286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79E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9029700"/>
            <a:ext cx="228600" cy="2286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82159" y="300827"/>
            <a:ext cx="1125906" cy="1125906"/>
          </a:xfrm>
          <a:custGeom>
            <a:avLst/>
            <a:gdLst/>
            <a:ahLst/>
            <a:cxnLst/>
            <a:rect r="r" b="b" t="t" l="l"/>
            <a:pathLst>
              <a:path h="1125906" w="1125906">
                <a:moveTo>
                  <a:pt x="0" y="0"/>
                </a:moveTo>
                <a:lnTo>
                  <a:pt x="1125906" y="0"/>
                </a:lnTo>
                <a:lnTo>
                  <a:pt x="1125906" y="1125906"/>
                </a:lnTo>
                <a:lnTo>
                  <a:pt x="0" y="1125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1684" y="1379108"/>
            <a:ext cx="1242701" cy="43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7"/>
              </a:lnSpc>
            </a:pPr>
            <a:r>
              <a:rPr lang="en-US" b="true" sz="2597" spc="16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15277281" y="-756397"/>
            <a:ext cx="969594" cy="3396666"/>
          </a:xfrm>
          <a:custGeom>
            <a:avLst/>
            <a:gdLst/>
            <a:ahLst/>
            <a:cxnLst/>
            <a:rect r="r" b="b" t="t" l="l"/>
            <a:pathLst>
              <a:path h="3396666" w="969594">
                <a:moveTo>
                  <a:pt x="0" y="0"/>
                </a:moveTo>
                <a:lnTo>
                  <a:pt x="969594" y="0"/>
                </a:lnTo>
                <a:lnTo>
                  <a:pt x="969594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DAHLdGX9P90</dc:identifier>
  <dcterms:modified xsi:type="dcterms:W3CDTF">2011-08-01T06:04:30Z</dcterms:modified>
  <cp:revision>1</cp:revision>
  <dc:title>Data Analysis</dc:title>
</cp:coreProperties>
</file>